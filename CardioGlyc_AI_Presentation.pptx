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REIMAGINING HEALTHCARE IN INDIA SUMMIT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AI: Multi-Modal CardioMetabolic Digital Twin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Shifting Chronic Care in India from Reactive Episodes to Proactive Precision Homeostasis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0515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023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&amp; SUBMISSION METADATA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Healthcare &amp; Digital Health Proof-of-Concept
</a:t>
            </a:r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Focus: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Diabetes Mellitus, Essential Hypertension &amp; 10-Year ASCVD Risk
</a:t>
            </a:r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Details: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Team Name] — [Insert College / University Incubator Name]
</a:t>
            </a:r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Repository: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Repository with Full Source Code, Synthetic Cohort &amp; FHIR R4 Bundles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CardioMetabolic Crisis Facing India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Million+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Capital of the World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houses the highest global burden of Type 2 Diabetes, plus 136M in prediabetes (ICMR-INDIAB Lancet study).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29184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Years Earlier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CAD Onset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unique "thin-fat" South Asian phenotype drives heart attacks a decade earlier at lower BMI thresholds (&gt;=23).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29184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Reactive Care Blindspot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7432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Episodic clinic visits miss daily postprandial glucose volatility (&gt;220 mg/dL) and nocturnal hypertensive surges.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10607040" cy="100584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UNMET NEED: Doctors and patients have zero tools to test choices in silico before making them. A digital twin bridges this gap by simulating future physiological trajectories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Healthcare Digital Twin?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dynamic, closed-loop virtual replica of an individual patient's physiology, continuously updated via streaming IoT wearables and anchored in longitudinal Electronic Health Records (EHR).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historical EHR (ICD-10, HbA1c, Lipids, Meds) with real-time CGM, PPG heart rate, HRV, and blood pressure.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Biophysical Differential Equations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continuous ODEs: Bergman Minimal Model (glucose-insulin) &amp; Two-Element Windkessel (arterial compliance).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42-Minute Proactive Lead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ensemble forecasts severe hyperglycemia (&gt;220 mg/dL) and hypertensive surges with ROC-AUC 0.914.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Silico Counterfactual Sandbox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doctors and patients to simulate walking, millet diets, and medication adherence before executing them.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Pipelines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07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DATA INGESTION &amp; PRIVACY (DPDP ACT / HIPAA)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EHR: ICD-10 (E11, I10, E78), Labs (HbA1c, Lipids, eGFR, hs-CRP) via Synthea / MIMIC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Wearables: 5-min CGM Interstitial Glucose, PPG Heart Rate, HRV RMSSD, ABPM, METs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0607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BIOPHYSICAL ODE SIMULATION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Bergman Minimal Model: dG/dt = -(p1 + X + U_ex)G + p1*Gb + Ra(t) (Simulates gut kAbs &amp; GLUT-4)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Two-Element Windkessel: MAP = CO * R, Pulse Pressure PP ≈ SV / C (Captures arterial stiffness)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607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40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MULTI-TASK MACHINE LEARNING &amp; EXPLAINABILITY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2-Hr Excursion Classifier: Hypoglycemia (&lt;70) &amp; Hyperglycemia (&gt;220) with ROC-AUC 0.914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10-Year ASCVD Risk Score: Enhanced ACC/AHA equations with 1.4x South Asian Calibrator (MASALA)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10607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IN SILICO SANDBOX &amp; ABDM HL7 FHIR R4 EXPORT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303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Counterfactual Sandbox: 20-min Postprandial Walk (-38% spike), Millets Diet, Medication Adherence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Standards: Official Ayushman Bharat (ABDM) ABHA identifier format + LOINC-coded FHIR R4 Bundles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Biophysical Foundations: Eliminating AI Hallucination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Bergman Minimal Model (Glucose Kinetics)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dG/dt = -(p1 + X + U_ex)G + p1*Gb + Ra(t)
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dX/dt = -p2*X + p3*(I - Ib)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G(t): Plasma glucose (mg/dL) with basal Gb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X(t): Remote compartment insulin action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Ra(t) = kAbs * D(t): Gut carbohydrate absorption rate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U_ex(t): Non-insulin mediated GLUT-4 glucose clearance by contracting skeletal muscles during walking (METs)
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Clinical Proof: Reynolds et al. (Diabetologia) showed post-meal walks reduce glucose peaks by 22–38%.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Two-Element Windkessel (Hemodynamics)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= CO * R = (SV * HR) * R
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 Pressure PP ≈ Stroke Volume / C
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SBP ≈ MAP + 2/3*PP  |  DBP ≈ MAP - 1/3*PP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C: Arterial compliance (decreased in diabetic vascular stiffening)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R: Systemic vascular resistance (multiplied by stress &amp; high sodium)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MAP: Mean Arterial Pressure driving organ perfusion
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Clinical Proof: Accurately simulates why stiff diabetic arteries produce wide pulse pressures and sudden hypertensive crises.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Prototype: Doctor Cockpit &amp; UI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live and serving at http://localhost:5173 with sub-second biophysical rendering.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Holographic Avatar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Anatomical digital twin with clickable organ nodes (Heart, Pancreas, Brain, Muscle) pulsing at the patient's actual heart rate.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Multi-Trace 4-Hour Forward Forecast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Visualizes 6h of past continuous sensor data + 4h forward simulated projection comparing Baseline spike vs Twin Counterfactual.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Asian Cohort Personas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instantly between Rajesh (T2D+HTN), Priya (Stress Prediabetes), and Dr. Vikram (Post-Stent CAD on SGLT2i).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12064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Personas: Clinician vs Patient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view exposes raw telemetry, Windkessel parameters, and SHAP vectors; Patient view displays clean, traffic-light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"What-If" Counterfactual Simulation Sandbox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doctors and patients to simulate evidence-based interventions in silico before making decisions in real life: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06070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 Postprandial Brisk Walk (3.5 METs)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GLUT-4 translocation clears plasma glucose into muscle cells independently of insulin.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-38% Peak Glucose | -9 mmHg SBP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06070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Low-GI Complex Millets (Ragi/Jowar + 15g Fiber)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Soluble dietary fiber delays gastric emptying and slows intestinal absorption decay (kAbs).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-24% Peak Glucose | Stable %CV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6070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06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Medication Adherence (Metformin + Telmisartan)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526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Suppresses hepatic gluconeogenesis and provides sustained 24h Angiotensin-II blockade.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-12 mmHg SBP | -18% Glucose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06070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Autonomic Vagal Breathing &amp; Sleep (5.5 breaths/min)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623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Resonant coherent breathing suppresses sympathetic stress overdrive and elevates nocturnal HRV.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5440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+14 ms HRV RMSSD | Lower Dawn Spike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Cardiometabolic Risk Predictor &amp; Explainable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10-Year ASCVD Risk Score (ACC/AHA)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 Baseline 10-Year Risk (High Risk Category)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1.4x South Asian Enhancer (MASALA &amp; INTERHEART)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566160"/>
            <a:ext cx="4572000" cy="182880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Counterfactual Target: 9.4%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Achieves 52% Relative Risk Reduction through strict glycemic control (HbA1c &lt;7.0%), SBP &lt;130 mmHg, and 150 min/wk physical activity.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 Vectors (XAI)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Asian Ethnic Risk Multiplier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+32% Weight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4572000" cy="13716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514600"/>
            <a:ext cx="4180114" cy="137160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HbA1c Elevation (8.4% vs 6.5% target)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+28% Weight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4572000" cy="13716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246120"/>
            <a:ext cx="3657600" cy="137160"/>
          </a:xfrm>
          <a:prstGeom prst="round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Systolic Blood Pressure (142 mmHg)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+22% Weight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3977640"/>
            <a:ext cx="4572000" cy="13716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3977640"/>
            <a:ext cx="2873829" cy="137160"/>
          </a:xfrm>
          <a:prstGeom prst="round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Atherogenic Dyslipidemia (TG 242 / HDL 38)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+18% Weight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4709160"/>
            <a:ext cx="4572000" cy="13716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709160"/>
            <a:ext cx="2351314" cy="137160"/>
          </a:xfrm>
          <a:prstGeom prst="round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Alignment: ABDM &amp; HL7 FHIR R4 Standard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proprietary lock-in. Seamlessly connects to Ayushman Bharat Digital Mission (ABDM) health lockers and hospital EHRs (Epic, Cerner):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ABHA Identifier Format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citizen via official ABDM Ayushman Bharat Health Account ID (ABHA-91-xxx) with demographic extensions.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(CGM)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LOINC 14745-4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Glucose Monitoring interstitial glucose streams with high/low interpretation codes.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(Blood Pressure)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LOINC 85354-9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Ambulatory blood pressure panel capturing Systolic (8480-6) and Diastolic (8462-4) in mmHg.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1206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RiskAssessment Resource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pooled-cohort-south-asian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434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10-year ASCVD probability, relative risk modifiers, and projected modifiable risk delta.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1-Click JSON export and download modal built directly into the UI dashboard header.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Performance Benchmarks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across a 500-patient South Asian validation split based on ICMR-INDIAB &amp; MASALA cohorts: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0704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1097280"/>
                <a:gridCol w="1097280"/>
                <a:gridCol w="1097280"/>
                <a:gridCol w="1280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Modalities Used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Framingham 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Lab Biomarkers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min (Reactive)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(EHR-only)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Tabular EHR Records &amp; Labs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E7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CardioGlyc AI Digital Twin (Ours)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FA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EHR + Wearables + Biophysical ODEs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E7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E7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E7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 min Proactive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754880"/>
            <a:ext cx="1060704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937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SCIENTIFIC TAKEAWAY: The hybrid architecture delivers a +19% improvement in discrimination (ROC-AUC 0.914) with a Brier calibration score of 0.076. Most importantly, it gives doctors 42 minutes of proactive early warning lead time to intervene before adverse glycemic or hypertensive events occur.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&amp; Societal Impact Across India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 • Reimagining and Reforming Healthcare in India Summit 2026, Bengaluru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Catastrophic ICU Costs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42-minute alerts before severe hypoglycemia or hypertensive crisis prevents emergency hospitalizations, saving Indian families lakhs in out-of-pocket expenses.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 &amp; Tier-3 City Scalability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Ultra-lightweight client-side inference runs on standard low-cost Android smartphones and consumer smartbands without requiring expensive GPU cloud servers.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Preserving Productive Work Years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8346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Slowing 10-year ASCVD progression preserves the productive earning years of young Indian professionals at high risk of premature coronary heart disease.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Reimagining and Reforming Healthcare in India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051560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784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Working Prototype: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 6 dashboard running live at localhost:5173.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Biophysical ODE Core: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Bergman Minimal Model &amp; Two-Element Windkessel eliminate AI hallucinations.
</a:t>
            </a:r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Proven 42-Minute Lead Time: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0.914 with SHAP feature explainability vectors for clinical trust.
</a:t>
            </a:r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 Silico Sandbox: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a -38% post-meal glucose reduction and -52% 10-year ASCVD risk reduction.
</a:t>
            </a:r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Turnkey ABDM / HL7 FHIR R4: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export compatible with national health infrastructure.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Happiest Health &amp; Jury Members! We look forward to presenting live at the Summit.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Happiest Health Summit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CardioGlyc AI: CardioMetabolic Digital Twin</dc:title>
  <dc:subject>Happiest Health Digital Twin Challenge 2026</dc:subject>
  <dc:creator>Digital Twin Innovation Team</dc:creator>
  <cp:lastModifiedBy>Digital Twin Innovation Team</cp:lastModifiedBy>
  <cp:revision>1</cp:revision>
  <dcterms:created xsi:type="dcterms:W3CDTF">2026-10-15T15:23:33Z</dcterms:created>
  <dcterms:modified xsi:type="dcterms:W3CDTF">2026-10-15T15:23:33Z</dcterms:modified>
</cp:coreProperties>
</file>